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AB986950-7382-44BE-A11B-3ACA70A01FEB}">
          <p14:sldIdLst>
            <p14:sldId id="256"/>
            <p14:sldId id="257"/>
            <p14:sldId id="258"/>
            <p14:sldId id="259"/>
            <p14:sldId id="260"/>
            <p14:sldId id="261"/>
            <p14:sldId id="262"/>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74" d="100"/>
          <a:sy n="74" d="100"/>
        </p:scale>
        <p:origin x="376"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rish reddy" userId="c2afe7d336f02859" providerId="LiveId" clId="{93A655E5-32D3-48C9-B84C-F41514928BFD}"/>
    <pc:docChg chg="undo custSel modSld addSection">
      <pc:chgData name="krish reddy" userId="c2afe7d336f02859" providerId="LiveId" clId="{93A655E5-32D3-48C9-B84C-F41514928BFD}" dt="2026-06-16T13:06:55.252" v="153" actId="20578"/>
      <pc:docMkLst>
        <pc:docMk/>
      </pc:docMkLst>
      <pc:sldChg chg="addSp modSp mod">
        <pc:chgData name="krish reddy" userId="c2afe7d336f02859" providerId="LiveId" clId="{93A655E5-32D3-48C9-B84C-F41514928BFD}" dt="2026-05-20T10:29:58.755" v="151" actId="1076"/>
        <pc:sldMkLst>
          <pc:docMk/>
          <pc:sldMk cId="2572037757" sldId="256"/>
        </pc:sldMkLst>
        <pc:spChg chg="mod">
          <ac:chgData name="krish reddy" userId="c2afe7d336f02859" providerId="LiveId" clId="{93A655E5-32D3-48C9-B84C-F41514928BFD}" dt="2026-05-20T10:23:15.420" v="1" actId="14100"/>
          <ac:spMkLst>
            <pc:docMk/>
            <pc:sldMk cId="2572037757" sldId="256"/>
            <ac:spMk id="2" creationId="{E359830C-964D-A809-B28B-1E34EEB6FB25}"/>
          </ac:spMkLst>
        </pc:spChg>
        <pc:spChg chg="mod">
          <ac:chgData name="krish reddy" userId="c2afe7d336f02859" providerId="LiveId" clId="{93A655E5-32D3-48C9-B84C-F41514928BFD}" dt="2026-05-20T10:28:50.120" v="146" actId="27636"/>
          <ac:spMkLst>
            <pc:docMk/>
            <pc:sldMk cId="2572037757" sldId="256"/>
            <ac:spMk id="3" creationId="{256D0375-1C0F-564E-A63C-7E522DAA58C9}"/>
          </ac:spMkLst>
        </pc:spChg>
        <pc:spChg chg="add mod">
          <ac:chgData name="krish reddy" userId="c2afe7d336f02859" providerId="LiveId" clId="{93A655E5-32D3-48C9-B84C-F41514928BFD}" dt="2026-05-20T10:29:58.755" v="151" actId="1076"/>
          <ac:spMkLst>
            <pc:docMk/>
            <pc:sldMk cId="2572037757" sldId="256"/>
            <ac:spMk id="5" creationId="{294B6A56-CB04-CB84-BBA7-5404519E870B}"/>
          </ac:spMkLst>
        </pc:spChg>
      </pc:sldChg>
      <pc:sldChg chg="modSp mod">
        <pc:chgData name="krish reddy" userId="c2afe7d336f02859" providerId="LiveId" clId="{93A655E5-32D3-48C9-B84C-F41514928BFD}" dt="2026-06-16T13:06:55.252" v="153" actId="20578"/>
        <pc:sldMkLst>
          <pc:docMk/>
          <pc:sldMk cId="287546359" sldId="263"/>
        </pc:sldMkLst>
        <pc:spChg chg="mod">
          <ac:chgData name="krish reddy" userId="c2afe7d336f02859" providerId="LiveId" clId="{93A655E5-32D3-48C9-B84C-F41514928BFD}" dt="2026-06-16T13:06:55.252" v="153" actId="20578"/>
          <ac:spMkLst>
            <pc:docMk/>
            <pc:sldMk cId="287546359" sldId="263"/>
            <ac:spMk id="5" creationId="{D2D17959-EDB7-DE9C-AAA3-1BB0E0F3D349}"/>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F7E1991-4878-433B-A271-AB5012959D19}"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98B0BB-4E07-45B3-9A45-9DAFA25D246F}" type="slidenum">
              <a:rPr lang="en-US" smtClean="0"/>
              <a:t>‹#›</a:t>
            </a:fld>
            <a:endParaRPr lang="en-US"/>
          </a:p>
        </p:txBody>
      </p:sp>
    </p:spTree>
    <p:extLst>
      <p:ext uri="{BB962C8B-B14F-4D97-AF65-F5344CB8AC3E}">
        <p14:creationId xmlns:p14="http://schemas.microsoft.com/office/powerpoint/2010/main" val="34504750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F7E1991-4878-433B-A271-AB5012959D19}"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98B0BB-4E07-45B3-9A45-9DAFA25D246F}" type="slidenum">
              <a:rPr lang="en-US" smtClean="0"/>
              <a:t>‹#›</a:t>
            </a:fld>
            <a:endParaRPr lang="en-US"/>
          </a:p>
        </p:txBody>
      </p:sp>
    </p:spTree>
    <p:extLst>
      <p:ext uri="{BB962C8B-B14F-4D97-AF65-F5344CB8AC3E}">
        <p14:creationId xmlns:p14="http://schemas.microsoft.com/office/powerpoint/2010/main" val="3684632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F7E1991-4878-433B-A271-AB5012959D19}"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98B0BB-4E07-45B3-9A45-9DAFA25D246F}" type="slidenum">
              <a:rPr lang="en-US" smtClean="0"/>
              <a:t>‹#›</a:t>
            </a:fld>
            <a:endParaRPr lang="en-US"/>
          </a:p>
        </p:txBody>
      </p:sp>
    </p:spTree>
    <p:extLst>
      <p:ext uri="{BB962C8B-B14F-4D97-AF65-F5344CB8AC3E}">
        <p14:creationId xmlns:p14="http://schemas.microsoft.com/office/powerpoint/2010/main" val="42769442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F7E1991-4878-433B-A271-AB5012959D19}"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98B0BB-4E07-45B3-9A45-9DAFA25D246F}" type="slidenum">
              <a:rPr lang="en-US" smtClean="0"/>
              <a:t>‹#›</a:t>
            </a:fld>
            <a:endParaRPr lang="en-US"/>
          </a:p>
        </p:txBody>
      </p:sp>
    </p:spTree>
    <p:extLst>
      <p:ext uri="{BB962C8B-B14F-4D97-AF65-F5344CB8AC3E}">
        <p14:creationId xmlns:p14="http://schemas.microsoft.com/office/powerpoint/2010/main" val="26004330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F7E1991-4878-433B-A271-AB5012959D19}" type="datetimeFigureOut">
              <a:rPr lang="en-US" smtClean="0"/>
              <a:t>6/16/2026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798B0BB-4E07-45B3-9A45-9DAFA25D246F}" type="slidenum">
              <a:rPr lang="en-US" smtClean="0"/>
              <a:t>‹#›</a:t>
            </a:fld>
            <a:endParaRPr lang="en-US"/>
          </a:p>
        </p:txBody>
      </p:sp>
    </p:spTree>
    <p:extLst>
      <p:ext uri="{BB962C8B-B14F-4D97-AF65-F5344CB8AC3E}">
        <p14:creationId xmlns:p14="http://schemas.microsoft.com/office/powerpoint/2010/main" val="3302211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F7E1991-4878-433B-A271-AB5012959D19}" type="datetimeFigureOut">
              <a:rPr lang="en-US" smtClean="0"/>
              <a:t>6/16/2026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798B0BB-4E07-45B3-9A45-9DAFA25D246F}" type="slidenum">
              <a:rPr lang="en-US" smtClean="0"/>
              <a:t>‹#›</a:t>
            </a:fld>
            <a:endParaRPr lang="en-US"/>
          </a:p>
        </p:txBody>
      </p:sp>
    </p:spTree>
    <p:extLst>
      <p:ext uri="{BB962C8B-B14F-4D97-AF65-F5344CB8AC3E}">
        <p14:creationId xmlns:p14="http://schemas.microsoft.com/office/powerpoint/2010/main" val="31814231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7E1991-4878-433B-A271-AB5012959D19}" type="datetimeFigureOut">
              <a:rPr lang="en-US" smtClean="0"/>
              <a:t>6/16/2026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798B0BB-4E07-45B3-9A45-9DAFA25D246F}" type="slidenum">
              <a:rPr lang="en-US" smtClean="0"/>
              <a:t>‹#›</a:t>
            </a:fld>
            <a:endParaRPr lang="en-US"/>
          </a:p>
        </p:txBody>
      </p:sp>
    </p:spTree>
    <p:extLst>
      <p:ext uri="{BB962C8B-B14F-4D97-AF65-F5344CB8AC3E}">
        <p14:creationId xmlns:p14="http://schemas.microsoft.com/office/powerpoint/2010/main" val="42575340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F7E1991-4878-433B-A271-AB5012959D19}"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98B0BB-4E07-45B3-9A45-9DAFA25D246F}" type="slidenum">
              <a:rPr lang="en-US" smtClean="0"/>
              <a:t>‹#›</a:t>
            </a:fld>
            <a:endParaRPr lang="en-US"/>
          </a:p>
        </p:txBody>
      </p:sp>
    </p:spTree>
    <p:extLst>
      <p:ext uri="{BB962C8B-B14F-4D97-AF65-F5344CB8AC3E}">
        <p14:creationId xmlns:p14="http://schemas.microsoft.com/office/powerpoint/2010/main" val="25039689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F7E1991-4878-433B-A271-AB5012959D19}"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98B0BB-4E07-45B3-9A45-9DAFA25D246F}" type="slidenum">
              <a:rPr lang="en-US" smtClean="0"/>
              <a:t>‹#›</a:t>
            </a:fld>
            <a:endParaRPr lang="en-US"/>
          </a:p>
        </p:txBody>
      </p:sp>
    </p:spTree>
    <p:extLst>
      <p:ext uri="{BB962C8B-B14F-4D97-AF65-F5344CB8AC3E}">
        <p14:creationId xmlns:p14="http://schemas.microsoft.com/office/powerpoint/2010/main" val="1959145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F7E1991-4878-433B-A271-AB5012959D19}"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98B0BB-4E07-45B3-9A45-9DAFA25D246F}" type="slidenum">
              <a:rPr lang="en-US" smtClean="0"/>
              <a:t>‹#›</a:t>
            </a:fld>
            <a:endParaRPr lang="en-US"/>
          </a:p>
        </p:txBody>
      </p:sp>
    </p:spTree>
    <p:extLst>
      <p:ext uri="{BB962C8B-B14F-4D97-AF65-F5344CB8AC3E}">
        <p14:creationId xmlns:p14="http://schemas.microsoft.com/office/powerpoint/2010/main" val="21806647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F7E1991-4878-433B-A271-AB5012959D19}"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98B0BB-4E07-45B3-9A45-9DAFA25D246F}"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1480263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F7E1991-4878-433B-A271-AB5012959D19}"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98B0BB-4E07-45B3-9A45-9DAFA25D246F}" type="slidenum">
              <a:rPr lang="en-US" smtClean="0"/>
              <a:t>‹#›</a:t>
            </a:fld>
            <a:endParaRPr lang="en-US"/>
          </a:p>
        </p:txBody>
      </p:sp>
    </p:spTree>
    <p:extLst>
      <p:ext uri="{BB962C8B-B14F-4D97-AF65-F5344CB8AC3E}">
        <p14:creationId xmlns:p14="http://schemas.microsoft.com/office/powerpoint/2010/main" val="26258123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F7E1991-4878-433B-A271-AB5012959D19}"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98B0BB-4E07-45B3-9A45-9DAFA25D246F}"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9290262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F7E1991-4878-433B-A271-AB5012959D19}"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98B0BB-4E07-45B3-9A45-9DAFA25D246F}" type="slidenum">
              <a:rPr lang="en-US" smtClean="0"/>
              <a:t>‹#›</a:t>
            </a:fld>
            <a:endParaRPr lang="en-US"/>
          </a:p>
        </p:txBody>
      </p:sp>
    </p:spTree>
    <p:extLst>
      <p:ext uri="{BB962C8B-B14F-4D97-AF65-F5344CB8AC3E}">
        <p14:creationId xmlns:p14="http://schemas.microsoft.com/office/powerpoint/2010/main" val="19682354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F7E1991-4878-433B-A271-AB5012959D19}"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98B0BB-4E07-45B3-9A45-9DAFA25D246F}" type="slidenum">
              <a:rPr lang="en-US" smtClean="0"/>
              <a:t>‹#›</a:t>
            </a:fld>
            <a:endParaRPr lang="en-US"/>
          </a:p>
        </p:txBody>
      </p:sp>
    </p:spTree>
    <p:extLst>
      <p:ext uri="{BB962C8B-B14F-4D97-AF65-F5344CB8AC3E}">
        <p14:creationId xmlns:p14="http://schemas.microsoft.com/office/powerpoint/2010/main" val="36835685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F7E1991-4878-433B-A271-AB5012959D19}"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98B0BB-4E07-45B3-9A45-9DAFA25D246F}" type="slidenum">
              <a:rPr lang="en-US" smtClean="0"/>
              <a:t>‹#›</a:t>
            </a:fld>
            <a:endParaRPr lang="en-US"/>
          </a:p>
        </p:txBody>
      </p:sp>
    </p:spTree>
    <p:extLst>
      <p:ext uri="{BB962C8B-B14F-4D97-AF65-F5344CB8AC3E}">
        <p14:creationId xmlns:p14="http://schemas.microsoft.com/office/powerpoint/2010/main" val="7179404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F7E1991-4878-433B-A271-AB5012959D19}" type="datetimeFigureOut">
              <a:rPr lang="en-US" smtClean="0"/>
              <a:t>6/16/2026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4798B0BB-4E07-45B3-9A45-9DAFA25D246F}" type="slidenum">
              <a:rPr lang="en-US" smtClean="0"/>
              <a:t>‹#›</a:t>
            </a:fld>
            <a:endParaRPr lang="en-US"/>
          </a:p>
        </p:txBody>
      </p:sp>
    </p:spTree>
    <p:extLst>
      <p:ext uri="{BB962C8B-B14F-4D97-AF65-F5344CB8AC3E}">
        <p14:creationId xmlns:p14="http://schemas.microsoft.com/office/powerpoint/2010/main" val="1217732895"/>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9830C-964D-A809-B28B-1E34EEB6FB25}"/>
              </a:ext>
            </a:extLst>
          </p:cNvPr>
          <p:cNvSpPr>
            <a:spLocks noGrp="1"/>
          </p:cNvSpPr>
          <p:nvPr>
            <p:ph type="ctrTitle"/>
          </p:nvPr>
        </p:nvSpPr>
        <p:spPr>
          <a:xfrm>
            <a:off x="1507067" y="1069675"/>
            <a:ext cx="7766936" cy="966159"/>
          </a:xfrm>
        </p:spPr>
        <p:txBody>
          <a:bodyPr>
            <a:normAutofit/>
          </a:bodyPr>
          <a:lstStyle/>
          <a:p>
            <a:r>
              <a:rPr lang="en-US" dirty="0"/>
              <a:t>CSAT Analysis Project</a:t>
            </a:r>
          </a:p>
        </p:txBody>
      </p:sp>
      <p:sp>
        <p:nvSpPr>
          <p:cNvPr id="3" name="Subtitle 2">
            <a:extLst>
              <a:ext uri="{FF2B5EF4-FFF2-40B4-BE49-F238E27FC236}">
                <a16:creationId xmlns:a16="http://schemas.microsoft.com/office/drawing/2014/main" id="{256D0375-1C0F-564E-A63C-7E522DAA58C9}"/>
              </a:ext>
            </a:extLst>
          </p:cNvPr>
          <p:cNvSpPr>
            <a:spLocks noGrp="1"/>
          </p:cNvSpPr>
          <p:nvPr>
            <p:ph type="subTitle" idx="1"/>
          </p:nvPr>
        </p:nvSpPr>
        <p:spPr>
          <a:xfrm>
            <a:off x="377007" y="4649638"/>
            <a:ext cx="4488291" cy="1552754"/>
          </a:xfrm>
        </p:spPr>
        <p:txBody>
          <a:bodyPr>
            <a:normAutofit lnSpcReduction="10000"/>
          </a:bodyPr>
          <a:lstStyle/>
          <a:p>
            <a:r>
              <a:rPr lang="en-US" dirty="0">
                <a:solidFill>
                  <a:schemeClr val="bg2">
                    <a:lumMod val="25000"/>
                  </a:schemeClr>
                </a:solidFill>
              </a:rPr>
              <a:t>Name: Nikhil Kumar Reddy</a:t>
            </a:r>
          </a:p>
          <a:p>
            <a:r>
              <a:rPr lang="en-US" dirty="0">
                <a:solidFill>
                  <a:schemeClr val="bg2">
                    <a:lumMod val="25000"/>
                  </a:schemeClr>
                </a:solidFill>
              </a:rPr>
              <a:t>Email:nikhilkumarreddy1354@gmail.com</a:t>
            </a:r>
          </a:p>
          <a:p>
            <a:r>
              <a:rPr lang="en-US" dirty="0">
                <a:solidFill>
                  <a:schemeClr val="bg2">
                    <a:lumMod val="25000"/>
                  </a:schemeClr>
                </a:solidFill>
              </a:rPr>
              <a:t>Course: CDA</a:t>
            </a:r>
          </a:p>
          <a:p>
            <a:r>
              <a:rPr lang="en-US" dirty="0">
                <a:solidFill>
                  <a:schemeClr val="bg2">
                    <a:lumMod val="25000"/>
                  </a:schemeClr>
                </a:solidFill>
              </a:rPr>
              <a:t>Batch:10</a:t>
            </a:r>
            <a:r>
              <a:rPr lang="en-US" baseline="30000" dirty="0">
                <a:solidFill>
                  <a:schemeClr val="bg2">
                    <a:lumMod val="25000"/>
                  </a:schemeClr>
                </a:solidFill>
              </a:rPr>
              <a:t>th</a:t>
            </a:r>
            <a:r>
              <a:rPr lang="en-US" dirty="0">
                <a:solidFill>
                  <a:schemeClr val="bg2">
                    <a:lumMod val="25000"/>
                  </a:schemeClr>
                </a:solidFill>
              </a:rPr>
              <a:t> Nov</a:t>
            </a:r>
          </a:p>
        </p:txBody>
      </p:sp>
      <p:sp>
        <p:nvSpPr>
          <p:cNvPr id="5" name="TextBox 4">
            <a:extLst>
              <a:ext uri="{FF2B5EF4-FFF2-40B4-BE49-F238E27FC236}">
                <a16:creationId xmlns:a16="http://schemas.microsoft.com/office/drawing/2014/main" id="{294B6A56-CB04-CB84-BBA7-5404519E870B}"/>
              </a:ext>
            </a:extLst>
          </p:cNvPr>
          <p:cNvSpPr txBox="1"/>
          <p:nvPr/>
        </p:nvSpPr>
        <p:spPr>
          <a:xfrm>
            <a:off x="5149970" y="2035834"/>
            <a:ext cx="4832947" cy="369332"/>
          </a:xfrm>
          <a:prstGeom prst="rect">
            <a:avLst/>
          </a:prstGeom>
          <a:noFill/>
        </p:spPr>
        <p:txBody>
          <a:bodyPr wrap="square">
            <a:spAutoFit/>
          </a:bodyPr>
          <a:lstStyle/>
          <a:p>
            <a:r>
              <a:rPr lang="en-US" i="1" dirty="0">
                <a:solidFill>
                  <a:schemeClr val="bg2">
                    <a:lumMod val="25000"/>
                  </a:schemeClr>
                </a:solidFill>
              </a:rPr>
              <a:t>Call Performance and Service Insights</a:t>
            </a:r>
            <a:endParaRPr lang="en-US" dirty="0">
              <a:solidFill>
                <a:schemeClr val="bg2">
                  <a:lumMod val="25000"/>
                </a:schemeClr>
              </a:solidFill>
            </a:endParaRPr>
          </a:p>
        </p:txBody>
      </p:sp>
    </p:spTree>
    <p:extLst>
      <p:ext uri="{BB962C8B-B14F-4D97-AF65-F5344CB8AC3E}">
        <p14:creationId xmlns:p14="http://schemas.microsoft.com/office/powerpoint/2010/main" val="25720377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C3429-3A91-FEEA-17C5-DC3B47C93CC7}"/>
              </a:ext>
            </a:extLst>
          </p:cNvPr>
          <p:cNvSpPr>
            <a:spLocks noGrp="1"/>
          </p:cNvSpPr>
          <p:nvPr>
            <p:ph type="title"/>
          </p:nvPr>
        </p:nvSpPr>
        <p:spPr>
          <a:xfrm>
            <a:off x="677334" y="776377"/>
            <a:ext cx="8596668" cy="957531"/>
          </a:xfrm>
        </p:spPr>
        <p:txBody>
          <a:bodyPr>
            <a:normAutofit/>
          </a:bodyPr>
          <a:lstStyle/>
          <a:p>
            <a:pPr algn="ctr"/>
            <a:r>
              <a:rPr lang="en-US" sz="3200" b="1" u="sng" dirty="0">
                <a:latin typeface="Century" panose="02040604050505020304" pitchFamily="18" charset="0"/>
              </a:rPr>
              <a:t>Motivation to choose dataset</a:t>
            </a:r>
          </a:p>
        </p:txBody>
      </p:sp>
      <p:sp>
        <p:nvSpPr>
          <p:cNvPr id="3" name="Content Placeholder 2">
            <a:extLst>
              <a:ext uri="{FF2B5EF4-FFF2-40B4-BE49-F238E27FC236}">
                <a16:creationId xmlns:a16="http://schemas.microsoft.com/office/drawing/2014/main" id="{57048792-1925-2809-1F26-89C11879E11D}"/>
              </a:ext>
            </a:extLst>
          </p:cNvPr>
          <p:cNvSpPr>
            <a:spLocks noGrp="1"/>
          </p:cNvSpPr>
          <p:nvPr>
            <p:ph idx="1"/>
          </p:nvPr>
        </p:nvSpPr>
        <p:spPr>
          <a:xfrm>
            <a:off x="677334" y="2027208"/>
            <a:ext cx="8596668" cy="3804249"/>
          </a:xfrm>
        </p:spPr>
        <p:txBody>
          <a:bodyPr>
            <a:normAutofit lnSpcReduction="10000"/>
          </a:bodyPr>
          <a:lstStyle/>
          <a:p>
            <a:r>
              <a:rPr lang="en-US" sz="2000" dirty="0">
                <a:solidFill>
                  <a:schemeClr val="tx1">
                    <a:lumMod val="95000"/>
                    <a:lumOff val="5000"/>
                  </a:schemeClr>
                </a:solidFill>
              </a:rPr>
              <a:t>I selected this dataset because it is practical, relevant, and easy to connect with real-world scenarios. It contains information that helps analyze customer satisfaction, service performance, and call handling efficiency. Working with this dataset allows me to apply SQL and data analysis skills to uncover meaningful insights that can improve business decisions</a:t>
            </a:r>
            <a:r>
              <a:rPr lang="en-US" dirty="0">
                <a:solidFill>
                  <a:schemeClr val="tx1">
                    <a:lumMod val="95000"/>
                    <a:lumOff val="5000"/>
                  </a:schemeClr>
                </a:solidFill>
              </a:rPr>
              <a:t>.</a:t>
            </a:r>
          </a:p>
          <a:p>
            <a:endParaRPr lang="en-US" b="1" dirty="0">
              <a:solidFill>
                <a:schemeClr val="tx1">
                  <a:lumMod val="95000"/>
                  <a:lumOff val="5000"/>
                </a:schemeClr>
              </a:solidFill>
            </a:endParaRPr>
          </a:p>
          <a:p>
            <a:r>
              <a:rPr lang="en-US" dirty="0">
                <a:solidFill>
                  <a:schemeClr val="tx1">
                    <a:lumMod val="95000"/>
                    <a:lumOff val="5000"/>
                  </a:schemeClr>
                </a:solidFill>
              </a:rPr>
              <a:t>It is easy to understand, useful for learning, and directly shows how data can solve real problems. It helps me practice queries, visualize results, and make recommendations that matter</a:t>
            </a:r>
            <a:r>
              <a:rPr lang="en-US" dirty="0"/>
              <a:t>.</a:t>
            </a:r>
            <a:endParaRPr lang="en-US" b="1" dirty="0"/>
          </a:p>
          <a:p>
            <a:endParaRPr lang="en-US" b="1" dirty="0"/>
          </a:p>
          <a:p>
            <a:pPr marL="0" indent="0">
              <a:buNone/>
            </a:pPr>
            <a:r>
              <a:rPr lang="en-US" dirty="0"/>
              <a:t>    </a:t>
            </a:r>
            <a:endParaRPr lang="en-US" b="1" dirty="0"/>
          </a:p>
        </p:txBody>
      </p:sp>
    </p:spTree>
    <p:extLst>
      <p:ext uri="{BB962C8B-B14F-4D97-AF65-F5344CB8AC3E}">
        <p14:creationId xmlns:p14="http://schemas.microsoft.com/office/powerpoint/2010/main" val="23514838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DEA15-349E-5CBE-0A6D-C1B3DAE4AE83}"/>
              </a:ext>
            </a:extLst>
          </p:cNvPr>
          <p:cNvSpPr>
            <a:spLocks noGrp="1"/>
          </p:cNvSpPr>
          <p:nvPr>
            <p:ph type="title"/>
          </p:nvPr>
        </p:nvSpPr>
        <p:spPr>
          <a:xfrm>
            <a:off x="677334" y="155276"/>
            <a:ext cx="8596668" cy="828135"/>
          </a:xfrm>
        </p:spPr>
        <p:txBody>
          <a:bodyPr/>
          <a:lstStyle/>
          <a:p>
            <a:pPr algn="ctr"/>
            <a:r>
              <a:rPr lang="en-US" u="sng" dirty="0"/>
              <a:t>Process of doing project</a:t>
            </a:r>
          </a:p>
        </p:txBody>
      </p:sp>
      <p:sp>
        <p:nvSpPr>
          <p:cNvPr id="4" name="Rectangle 1">
            <a:extLst>
              <a:ext uri="{FF2B5EF4-FFF2-40B4-BE49-F238E27FC236}">
                <a16:creationId xmlns:a16="http://schemas.microsoft.com/office/drawing/2014/main" id="{2093E50A-1172-56FA-B048-9163E63AAE5F}"/>
              </a:ext>
            </a:extLst>
          </p:cNvPr>
          <p:cNvSpPr>
            <a:spLocks noGrp="1" noChangeArrowheads="1"/>
          </p:cNvSpPr>
          <p:nvPr>
            <p:ph idx="1"/>
          </p:nvPr>
        </p:nvSpPr>
        <p:spPr bwMode="auto">
          <a:xfrm>
            <a:off x="677863" y="1206165"/>
            <a:ext cx="8814336"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Collect Dataset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dirty="0">
                <a:solidFill>
                  <a:schemeClr val="tx1"/>
                </a:solidFill>
                <a:latin typeface="Arial" panose="020B0604020202020204" pitchFamily="34" charset="0"/>
              </a:rPr>
              <a:t>Collected dataset from SQL database </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Clean &amp; Prepare Data</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Removed duplicates, handled missing values, and formatted dates.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Analyze with SQL</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Wrote queries to find total calls, calls by channel, SLA compliance, and top reasons.</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dirty="0">
                <a:solidFill>
                  <a:schemeClr val="tx1"/>
                </a:solidFill>
                <a:latin typeface="Arial" panose="020B0604020202020204" pitchFamily="34" charset="0"/>
              </a:rPr>
              <a:t>Created some DAX queries for given data </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Visualize Results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Built charts and dashboards (bar, donut, map, line graphs) for clear insights.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Interpret Findings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Identified trends: billing queries dominate, call‑center leads, SLA mostly met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Present Insights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Created a professional PPT with key findings, visuals, and recommendations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52985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close-up of a chart&#10;&#10;AI-generated content may be incorrect.">
            <a:extLst>
              <a:ext uri="{FF2B5EF4-FFF2-40B4-BE49-F238E27FC236}">
                <a16:creationId xmlns:a16="http://schemas.microsoft.com/office/drawing/2014/main" id="{C8390659-772E-C5E1-EC9A-366BA9A54C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1336" y="353999"/>
            <a:ext cx="7613871" cy="5572348"/>
          </a:xfrm>
          <a:prstGeom prst="rect">
            <a:avLst/>
          </a:prstGeom>
        </p:spPr>
      </p:pic>
    </p:spTree>
    <p:extLst>
      <p:ext uri="{BB962C8B-B14F-4D97-AF65-F5344CB8AC3E}">
        <p14:creationId xmlns:p14="http://schemas.microsoft.com/office/powerpoint/2010/main" val="7247192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 screen&#10;&#10;AI-generated content may be incorrect.">
            <a:extLst>
              <a:ext uri="{FF2B5EF4-FFF2-40B4-BE49-F238E27FC236}">
                <a16:creationId xmlns:a16="http://schemas.microsoft.com/office/drawing/2014/main" id="{BA570D2C-937C-0D8F-A603-31D217E09B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7498" y="491815"/>
            <a:ext cx="8217322" cy="505486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3038255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9CA68-04EA-4FC9-B5AB-E916190E7AF9}"/>
              </a:ext>
            </a:extLst>
          </p:cNvPr>
          <p:cNvSpPr>
            <a:spLocks noGrp="1"/>
          </p:cNvSpPr>
          <p:nvPr>
            <p:ph type="title"/>
          </p:nvPr>
        </p:nvSpPr>
        <p:spPr>
          <a:xfrm>
            <a:off x="677334" y="146650"/>
            <a:ext cx="8596668" cy="810882"/>
          </a:xfrm>
        </p:spPr>
        <p:txBody>
          <a:bodyPr>
            <a:normAutofit/>
          </a:bodyPr>
          <a:lstStyle/>
          <a:p>
            <a:pPr algn="ctr"/>
            <a:r>
              <a:rPr lang="en-US" u="sng" dirty="0"/>
              <a:t>Key Insights</a:t>
            </a:r>
          </a:p>
        </p:txBody>
      </p:sp>
      <p:sp>
        <p:nvSpPr>
          <p:cNvPr id="4" name="Rectangle 1">
            <a:extLst>
              <a:ext uri="{FF2B5EF4-FFF2-40B4-BE49-F238E27FC236}">
                <a16:creationId xmlns:a16="http://schemas.microsoft.com/office/drawing/2014/main" id="{848413B1-BF38-2E81-94C3-AB6B1A40C9BA}"/>
              </a:ext>
            </a:extLst>
          </p:cNvPr>
          <p:cNvSpPr>
            <a:spLocks noGrp="1" noChangeArrowheads="1"/>
          </p:cNvSpPr>
          <p:nvPr>
            <p:ph idx="1"/>
          </p:nvPr>
        </p:nvSpPr>
        <p:spPr bwMode="auto">
          <a:xfrm>
            <a:off x="769516" y="1369695"/>
            <a:ext cx="8412303"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Overall CSAT Score:</a:t>
            </a:r>
            <a:r>
              <a:rPr kumimoji="0" lang="en-US" altLang="en-US" sz="1800" b="0" i="0" u="none" strike="noStrike" cap="none" normalizeH="0" baseline="0" dirty="0">
                <a:ln>
                  <a:noFill/>
                </a:ln>
                <a:solidFill>
                  <a:schemeClr val="tx1"/>
                </a:solidFill>
                <a:effectLst/>
                <a:latin typeface="Arial" panose="020B0604020202020204" pitchFamily="34" charset="0"/>
              </a:rPr>
              <a:t> 68K — shows strong customer satisfaction levels.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Total Calls:</a:t>
            </a:r>
            <a:r>
              <a:rPr kumimoji="0" lang="en-US" altLang="en-US" sz="1800" b="0" i="0" u="none" strike="noStrike" cap="none" normalizeH="0" baseline="0" dirty="0">
                <a:ln>
                  <a:noFill/>
                </a:ln>
                <a:solidFill>
                  <a:schemeClr val="tx1"/>
                </a:solidFill>
                <a:effectLst/>
                <a:latin typeface="Arial" panose="020B0604020202020204" pitchFamily="34" charset="0"/>
              </a:rPr>
              <a:t> 33K — indicates high customer engagement across channels.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Average Call Duration:</a:t>
            </a:r>
            <a:r>
              <a:rPr kumimoji="0" lang="en-US" altLang="en-US" sz="1800" b="0" i="0" u="none" strike="noStrike" cap="none" normalizeH="0" baseline="0" dirty="0">
                <a:ln>
                  <a:noFill/>
                </a:ln>
                <a:solidFill>
                  <a:schemeClr val="tx1"/>
                </a:solidFill>
                <a:effectLst/>
                <a:latin typeface="Arial" panose="020B0604020202020204" pitchFamily="34" charset="0"/>
              </a:rPr>
              <a:t> 25 minutes — suggests detailed customer interactions.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Top Channel:</a:t>
            </a:r>
            <a:r>
              <a:rPr kumimoji="0" lang="en-US" altLang="en-US" sz="1800" b="0" i="0" u="none" strike="noStrike" cap="none" normalizeH="0" baseline="0" dirty="0">
                <a:ln>
                  <a:noFill/>
                </a:ln>
                <a:solidFill>
                  <a:schemeClr val="tx1"/>
                </a:solidFill>
                <a:effectLst/>
                <a:latin typeface="Arial" panose="020B0604020202020204" pitchFamily="34" charset="0"/>
              </a:rPr>
              <a:t> Call‑Center (10.6K calls) — most preferred by customers.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Response Time:</a:t>
            </a:r>
            <a:r>
              <a:rPr kumimoji="0" lang="en-US" altLang="en-US" sz="1800" b="0" i="0" u="none" strike="noStrike" cap="none" normalizeH="0" baseline="0" dirty="0">
                <a:ln>
                  <a:noFill/>
                </a:ln>
                <a:solidFill>
                  <a:schemeClr val="tx1"/>
                </a:solidFill>
                <a:effectLst/>
                <a:latin typeface="Arial" panose="020B0604020202020204" pitchFamily="34" charset="0"/>
              </a:rPr>
              <a:t> 63% of calls handled </a:t>
            </a:r>
            <a:r>
              <a:rPr kumimoji="0" lang="en-US" altLang="en-US" sz="1800" b="0" i="1" u="none" strike="noStrike" cap="none" normalizeH="0" baseline="0" dirty="0">
                <a:ln>
                  <a:noFill/>
                </a:ln>
                <a:solidFill>
                  <a:schemeClr val="tx1"/>
                </a:solidFill>
                <a:effectLst/>
                <a:latin typeface="Arial" panose="020B0604020202020204" pitchFamily="34" charset="0"/>
              </a:rPr>
              <a:t>within SLA</a:t>
            </a:r>
            <a:r>
              <a:rPr kumimoji="0" lang="en-US" altLang="en-US" sz="1800" b="0" i="0" u="none" strike="noStrike" cap="none" normalizeH="0" baseline="0" dirty="0">
                <a:ln>
                  <a:noFill/>
                </a:ln>
                <a:solidFill>
                  <a:schemeClr val="tx1"/>
                </a:solidFill>
                <a:effectLst/>
                <a:latin typeface="Arial" panose="020B0604020202020204" pitchFamily="34" charset="0"/>
              </a:rPr>
              <a:t> — good service efficiency.</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679189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F3D7DFB-ECA3-157C-0763-D3B843EE82AE}"/>
              </a:ext>
            </a:extLst>
          </p:cNvPr>
          <p:cNvSpPr txBox="1"/>
          <p:nvPr/>
        </p:nvSpPr>
        <p:spPr>
          <a:xfrm>
            <a:off x="241540" y="974786"/>
            <a:ext cx="9299276" cy="3139321"/>
          </a:xfrm>
          <a:prstGeom prst="rect">
            <a:avLst/>
          </a:prstGeom>
          <a:noFill/>
        </p:spPr>
        <p:txBody>
          <a:bodyPr wrap="square">
            <a:spAutoFit/>
          </a:bodyPr>
          <a:lstStyle/>
          <a:p>
            <a:pPr>
              <a:buFont typeface="Arial" panose="020B0604020202020204" pitchFamily="34" charset="0"/>
              <a:buChar char="•"/>
            </a:pPr>
            <a:r>
              <a:rPr lang="en-US" b="1" dirty="0">
                <a:effectLst/>
              </a:rPr>
              <a:t>Sentiment Analysis:</a:t>
            </a:r>
          </a:p>
          <a:p>
            <a:endParaRPr lang="en-US" dirty="0"/>
          </a:p>
          <a:p>
            <a:pPr marL="742950" lvl="1" indent="-285750">
              <a:buFont typeface="Arial" panose="020B0604020202020204" pitchFamily="34" charset="0"/>
              <a:buChar char="•"/>
            </a:pPr>
            <a:r>
              <a:rPr lang="en-US" dirty="0">
                <a:effectLst/>
              </a:rPr>
              <a:t>Majority of feedback is </a:t>
            </a:r>
            <a:r>
              <a:rPr lang="en-US" b="1" dirty="0">
                <a:effectLst/>
              </a:rPr>
              <a:t>Negative (11.1K)</a:t>
            </a:r>
            <a:r>
              <a:rPr lang="en-US" dirty="0">
                <a:effectLst/>
              </a:rPr>
              <a:t> and </a:t>
            </a:r>
            <a:r>
              <a:rPr lang="en-US" b="1" dirty="0">
                <a:effectLst/>
              </a:rPr>
              <a:t>Neutral (8.8K)</a:t>
            </a:r>
            <a:r>
              <a:rPr lang="en-US" dirty="0">
                <a:effectLst/>
              </a:rPr>
              <a:t>.</a:t>
            </a:r>
          </a:p>
          <a:p>
            <a:pPr lvl="1"/>
            <a:endParaRPr lang="en-US" dirty="0"/>
          </a:p>
          <a:p>
            <a:pPr marL="742950" lvl="1" indent="-285750">
              <a:buFont typeface="Arial" panose="020B0604020202020204" pitchFamily="34" charset="0"/>
              <a:buChar char="•"/>
            </a:pPr>
            <a:r>
              <a:rPr lang="en-US" dirty="0">
                <a:effectLst/>
              </a:rPr>
              <a:t>Positive sentiments (3.9K + 3.2K) show room for improvement.</a:t>
            </a:r>
          </a:p>
          <a:p>
            <a:pPr lvl="1"/>
            <a:endParaRPr lang="en-US" dirty="0"/>
          </a:p>
          <a:p>
            <a:pPr>
              <a:buFont typeface="Arial" panose="020B0604020202020204" pitchFamily="34" charset="0"/>
              <a:buChar char="•"/>
            </a:pPr>
            <a:r>
              <a:rPr lang="en-US" b="1" dirty="0">
                <a:effectLst/>
              </a:rPr>
              <a:t>City‑wise Performance:</a:t>
            </a:r>
            <a:r>
              <a:rPr lang="en-US" dirty="0">
                <a:effectLst/>
              </a:rPr>
              <a:t> Los Angeles leads with 14K calls (42%), followed by Baltimore (33%).</a:t>
            </a:r>
          </a:p>
          <a:p>
            <a:endParaRPr lang="en-US" dirty="0"/>
          </a:p>
          <a:p>
            <a:pPr>
              <a:buFont typeface="Arial" panose="020B0604020202020204" pitchFamily="34" charset="0"/>
              <a:buChar char="•"/>
            </a:pPr>
            <a:r>
              <a:rPr lang="en-US" b="1" dirty="0">
                <a:effectLst/>
              </a:rPr>
              <a:t>Channel Efficiency:</a:t>
            </a:r>
            <a:r>
              <a:rPr lang="en-US" dirty="0">
                <a:effectLst/>
              </a:rPr>
              <a:t> Call‑Center and Chatbot handle most responses quickly.</a:t>
            </a:r>
          </a:p>
          <a:p>
            <a:endParaRPr lang="en-US" dirty="0"/>
          </a:p>
        </p:txBody>
      </p:sp>
    </p:spTree>
    <p:extLst>
      <p:ext uri="{BB962C8B-B14F-4D97-AF65-F5344CB8AC3E}">
        <p14:creationId xmlns:p14="http://schemas.microsoft.com/office/powerpoint/2010/main" val="6347059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850CE-56A4-9A74-8FAD-B7A82E0BD570}"/>
              </a:ext>
            </a:extLst>
          </p:cNvPr>
          <p:cNvSpPr>
            <a:spLocks noGrp="1"/>
          </p:cNvSpPr>
          <p:nvPr>
            <p:ph type="title"/>
          </p:nvPr>
        </p:nvSpPr>
        <p:spPr>
          <a:xfrm>
            <a:off x="677334" y="267419"/>
            <a:ext cx="8596668" cy="862641"/>
          </a:xfrm>
        </p:spPr>
        <p:txBody>
          <a:bodyPr/>
          <a:lstStyle/>
          <a:p>
            <a:pPr algn="ctr"/>
            <a:r>
              <a:rPr lang="en-US" u="sng" dirty="0"/>
              <a:t>Recommendations</a:t>
            </a:r>
          </a:p>
        </p:txBody>
      </p:sp>
      <p:sp>
        <p:nvSpPr>
          <p:cNvPr id="5" name="Rectangle 2">
            <a:extLst>
              <a:ext uri="{FF2B5EF4-FFF2-40B4-BE49-F238E27FC236}">
                <a16:creationId xmlns:a16="http://schemas.microsoft.com/office/drawing/2014/main" id="{D2D17959-EDB7-DE9C-AAA3-1BB0E0F3D349}"/>
              </a:ext>
            </a:extLst>
          </p:cNvPr>
          <p:cNvSpPr>
            <a:spLocks noGrp="1" noChangeArrowheads="1"/>
          </p:cNvSpPr>
          <p:nvPr>
            <p:ph idx="1"/>
          </p:nvPr>
        </p:nvSpPr>
        <p:spPr bwMode="auto">
          <a:xfrm>
            <a:off x="396815" y="1016867"/>
            <a:ext cx="9221637" cy="52937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800100" lvl="2" indent="0" defTabSz="914400" eaLnBrk="0" fontAlgn="base" hangingPunct="0">
              <a:spcBef>
                <a:spcPct val="0"/>
              </a:spcBef>
              <a:spcAft>
                <a:spcPct val="0"/>
              </a:spcAft>
              <a:buClrTx/>
              <a:buSzTx/>
              <a:buFontTx/>
              <a:buChar char="•"/>
            </a:pPr>
            <a:r>
              <a:rPr kumimoji="0" lang="en-US" altLang="en-US" b="1" i="0" u="none" strike="noStrike" cap="none" normalizeH="0" baseline="0" dirty="0">
                <a:ln>
                  <a:noFill/>
                </a:ln>
                <a:solidFill>
                  <a:schemeClr val="tx1"/>
                </a:solidFill>
                <a:effectLst/>
                <a:latin typeface="Arial" panose="020B0604020202020204" pitchFamily="34" charset="0"/>
              </a:rPr>
              <a:t>Improve Customer Experience</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Provide clear and quick resolutions through FAQs or self‑service portals.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Enhance Channel Efficiency</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Strengthen </a:t>
            </a:r>
            <a:r>
              <a:rPr kumimoji="0" lang="en-US" altLang="en-US" sz="1800" b="1" i="0" u="none" strike="noStrike" cap="none" normalizeH="0" baseline="0" dirty="0">
                <a:ln>
                  <a:noFill/>
                </a:ln>
                <a:solidFill>
                  <a:schemeClr val="tx1"/>
                </a:solidFill>
                <a:effectLst/>
                <a:latin typeface="Arial" panose="020B0604020202020204" pitchFamily="34" charset="0"/>
              </a:rPr>
              <a:t>Chatbot and Email</a:t>
            </a:r>
            <a:r>
              <a:rPr kumimoji="0" lang="en-US" altLang="en-US" sz="1800" b="0" i="0" u="none" strike="noStrike" cap="none" normalizeH="0" baseline="0" dirty="0">
                <a:ln>
                  <a:noFill/>
                </a:ln>
                <a:solidFill>
                  <a:schemeClr val="tx1"/>
                </a:solidFill>
                <a:effectLst/>
                <a:latin typeface="Arial" panose="020B0604020202020204" pitchFamily="34" charset="0"/>
              </a:rPr>
              <a:t> response systems to handle more queries within SLA.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Offer training for call‑center agents to maintain consistency and empathy in communication.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Optimize Response Time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Monitor SLA performance regularly and set alerts for delayed responses.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Automate routine tasks to speed up resolution time.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Leverage Sentiment Analysis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 sentiment data to identify pain points and improve customer interactions.</a:t>
            </a:r>
          </a:p>
          <a:p>
            <a:pPr marL="0" indent="0" defTabSz="914400" eaLnBrk="0" fontAlgn="base" hangingPunct="0">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Target negative sentiment customers with personalized follow‑ups or offers.</a:t>
            </a:r>
            <a:r>
              <a:rPr lang="en-US" altLang="en-US" dirty="0">
                <a:solidFill>
                  <a:schemeClr val="tx1"/>
                </a:solidFill>
                <a:latin typeface="Arial" panose="020B0604020202020204" pitchFamily="34" charset="0"/>
              </a:rPr>
              <a:t> Focus on reducing negative feedback by addressing common issues like billing and payment queries.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75463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C91AE-D678-51FF-9BA4-CD7C9355907D}"/>
              </a:ext>
            </a:extLst>
          </p:cNvPr>
          <p:cNvSpPr>
            <a:spLocks noGrp="1"/>
          </p:cNvSpPr>
          <p:nvPr>
            <p:ph type="title"/>
          </p:nvPr>
        </p:nvSpPr>
        <p:spPr>
          <a:xfrm>
            <a:off x="677334" y="483079"/>
            <a:ext cx="8596668" cy="879895"/>
          </a:xfrm>
        </p:spPr>
        <p:txBody>
          <a:bodyPr/>
          <a:lstStyle/>
          <a:p>
            <a:pPr algn="ctr"/>
            <a:r>
              <a:rPr lang="en-US" u="sng" dirty="0"/>
              <a:t>Conclusion </a:t>
            </a:r>
          </a:p>
        </p:txBody>
      </p:sp>
      <p:sp>
        <p:nvSpPr>
          <p:cNvPr id="4" name="Rectangle 1">
            <a:extLst>
              <a:ext uri="{FF2B5EF4-FFF2-40B4-BE49-F238E27FC236}">
                <a16:creationId xmlns:a16="http://schemas.microsoft.com/office/drawing/2014/main" id="{3E84EB66-E2EF-B5E7-61CA-11CD17706F8A}"/>
              </a:ext>
            </a:extLst>
          </p:cNvPr>
          <p:cNvSpPr>
            <a:spLocks noGrp="1" noChangeArrowheads="1"/>
          </p:cNvSpPr>
          <p:nvPr>
            <p:ph idx="1"/>
          </p:nvPr>
        </p:nvSpPr>
        <p:spPr bwMode="auto">
          <a:xfrm>
            <a:off x="163902" y="1482149"/>
            <a:ext cx="10136038" cy="3986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CSAT Analysis project highlights strong customer satisfaction overall, with most calls handled within SLA.</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Call‑Center remains the most trusted channel, while Chatbot and Email need efficiency improvements.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Billing queries dominate customer concerns, showing the need for better self‑service and proactive communication.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Sentiment analysis reveals high negative and neutral feedback, pointing to opportunities for improving customer experience.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Geographic insights show Los Angeles as the busiest center, requiring balanced resource allocation.</a:t>
            </a:r>
          </a:p>
        </p:txBody>
      </p:sp>
    </p:spTree>
    <p:extLst>
      <p:ext uri="{BB962C8B-B14F-4D97-AF65-F5344CB8AC3E}">
        <p14:creationId xmlns:p14="http://schemas.microsoft.com/office/powerpoint/2010/main" val="274328030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112</TotalTime>
  <Words>559</Words>
  <Application>Microsoft Office PowerPoint</Application>
  <PresentationFormat>Widescreen</PresentationFormat>
  <Paragraphs>79</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Century</vt:lpstr>
      <vt:lpstr>Trebuchet MS</vt:lpstr>
      <vt:lpstr>Wingdings 3</vt:lpstr>
      <vt:lpstr>Facet</vt:lpstr>
      <vt:lpstr>CSAT Analysis Project</vt:lpstr>
      <vt:lpstr>Motivation to choose dataset</vt:lpstr>
      <vt:lpstr>Process of doing project</vt:lpstr>
      <vt:lpstr>PowerPoint Presentation</vt:lpstr>
      <vt:lpstr>PowerPoint Presentation</vt:lpstr>
      <vt:lpstr>Key Insights</vt:lpstr>
      <vt:lpstr>PowerPoint Presentation</vt:lpstr>
      <vt:lpstr>Recommendations</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krish reddy</dc:creator>
  <cp:lastModifiedBy>krish reddy</cp:lastModifiedBy>
  <cp:revision>1</cp:revision>
  <dcterms:created xsi:type="dcterms:W3CDTF">2026-05-20T04:28:48Z</dcterms:created>
  <dcterms:modified xsi:type="dcterms:W3CDTF">2026-06-16T13:07:02Z</dcterms:modified>
</cp:coreProperties>
</file>